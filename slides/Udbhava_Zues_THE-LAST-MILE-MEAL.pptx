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74320"/>
            <a:ext cx="8796528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C-02  |  SMART CAMPUS DOMAIN  |  UDBHAVA X '26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Last-Mile Meal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651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Campus Delivery &amp; Logistics 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dispatch logic · Route optimization · Batching · Zero food waste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736592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University  ·  School of Computer Science &amp; AI  ·  Coding Club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students skip meals and the system fails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128016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 campus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777240"/>
            <a:ext cx="2743200" cy="128016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777240"/>
            <a:ext cx="27432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822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461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777240"/>
            <a:ext cx="2743200" cy="128016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777240"/>
            <a:ext cx="2743200" cy="6400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822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1:1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2179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Runner-to-order ratio (broken)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4028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317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Dispatch Logic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26517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Runners assigned ad-hoc. No system to optimize who goes where.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46120" y="2240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24028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3317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Indoor Navigation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26517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corridors are complex. Runners get lost; food arrives cold.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24028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24028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33172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Batching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55080" y="265176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runner, one order. Massive inefficiency at peak lunch hours.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661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6616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Cash-Only Payments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1480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accountability, no receipts, disputes impossible to resolve.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35661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56616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Hazard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Swiggy/Zomato riders enter campus freely — uncontrolled.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356616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17920" y="3566160"/>
            <a:ext cx="64008" cy="1188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3657600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Tracking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55080" y="3977640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have no idea if/when food is coming after they order.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 ANALYSIS &amp; BRAINSTORM IDEAS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91840" y="914400"/>
            <a:ext cx="2560320" cy="731520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91840" y="914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Brain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377440" cy="54864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phone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463040"/>
            <a:ext cx="640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  <a:tailEnd type="open"/>
          </a:ln>
        </p:spPr>
      </p:sp>
      <p:sp>
        <p:nvSpPr>
          <p:cNvPr id="9" name="Shape 7"/>
          <p:cNvSpPr/>
          <p:nvPr/>
        </p:nvSpPr>
        <p:spPr>
          <a:xfrm>
            <a:off x="274320" y="1965960"/>
            <a:ext cx="2377440" cy="54864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runner GPS logic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51760" y="2240280"/>
            <a:ext cx="640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274320" y="2743200"/>
            <a:ext cx="2377440" cy="54864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payment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017520"/>
            <a:ext cx="640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  <a:tailEnd type="open"/>
          </a:ln>
        </p:spPr>
      </p:sp>
      <p:sp>
        <p:nvSpPr>
          <p:cNvPr id="15" name="Shape 13"/>
          <p:cNvSpPr/>
          <p:nvPr/>
        </p:nvSpPr>
        <p:spPr>
          <a:xfrm>
            <a:off x="274320" y="3520440"/>
            <a:ext cx="2377440" cy="54864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Zone system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51760" y="3794760"/>
            <a:ext cx="6400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dash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6492240" y="1188720"/>
            <a:ext cx="23774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1887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dispatch engine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0" y="1463040"/>
            <a:ext cx="54864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  <a:tailEnd type="open"/>
          </a:ln>
        </p:spPr>
      </p:sp>
      <p:sp>
        <p:nvSpPr>
          <p:cNvPr id="21" name="Shape 19"/>
          <p:cNvSpPr/>
          <p:nvPr/>
        </p:nvSpPr>
        <p:spPr>
          <a:xfrm>
            <a:off x="6492240" y="1965960"/>
            <a:ext cx="23774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route optimization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2240280"/>
            <a:ext cx="54864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e-wallet credits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3017520"/>
            <a:ext cx="54864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  <a:tailEnd type="open"/>
          </a:ln>
        </p:spPr>
      </p:sp>
      <p:sp>
        <p:nvSpPr>
          <p:cNvPr id="27" name="Shape 25"/>
          <p:cNvSpPr/>
          <p:nvPr/>
        </p:nvSpPr>
        <p:spPr>
          <a:xfrm>
            <a:off x="6492240" y="3520440"/>
            <a:ext cx="237744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QR-verified Drop Zones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794760"/>
            <a:ext cx="548640" cy="0"/>
          </a:xfrm>
          <a:prstGeom prst="line">
            <a:avLst/>
          </a:prstGeom>
          <a:noFill/>
          <a:ln w="19050">
            <a:solidFill>
              <a:srgbClr val="F2B705"/>
            </a:solidFill>
            <a:prstDash val="solid"/>
            <a:tailEnd type="open"/>
          </a:ln>
        </p:spPr>
      </p:sp>
      <p:sp>
        <p:nvSpPr>
          <p:cNvPr id="30" name="Text 28"/>
          <p:cNvSpPr/>
          <p:nvPr/>
        </p:nvSpPr>
        <p:spPr>
          <a:xfrm>
            <a:off x="274320" y="749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749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2519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 IDEAS CONSIDERED: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572000"/>
            <a:ext cx="160020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572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dispatch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0" y="4572000"/>
            <a:ext cx="160020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11680" y="4572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P2P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49040" y="4572000"/>
            <a:ext cx="160020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572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ML assignment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4572000"/>
            <a:ext cx="160020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4572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greedy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223760" y="4572000"/>
            <a:ext cx="1600200" cy="384048"/>
          </a:xfrm>
          <a:prstGeom prst="rect">
            <a:avLst/>
          </a:prstGeom>
          <a:solidFill>
            <a:srgbClr val="1A3050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23760" y="4572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with geo-clusters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Architecture  ·  Event-Driven Design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87782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77724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Client Interfaces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solidFill>
            <a:srgbClr val="0B1E3D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 &amp; Track)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50592" y="1051560"/>
            <a:ext cx="1965960" cy="640080"/>
          </a:xfrm>
          <a:prstGeom prst="rect">
            <a:avLst/>
          </a:prstGeom>
          <a:solidFill>
            <a:srgbClr val="0B1E3D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App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 &amp; Navigate)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26864" y="1051560"/>
            <a:ext cx="1965960" cy="640080"/>
          </a:xfrm>
          <a:prstGeom prst="rect">
            <a:avLst/>
          </a:prstGeom>
          <a:solidFill>
            <a:srgbClr val="0B1E3D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Portal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 Queue)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803136" y="1051560"/>
            <a:ext cx="1965960" cy="640080"/>
          </a:xfrm>
          <a:prstGeom prst="rect">
            <a:avLst/>
          </a:prstGeom>
          <a:solidFill>
            <a:srgbClr val="0B1E3D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105156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(Monitor &amp; Analytics)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78408" y="1691640"/>
            <a:ext cx="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open"/>
          </a:ln>
        </p:spPr>
      </p:sp>
      <p:sp>
        <p:nvSpPr>
          <p:cNvPr id="16" name="Shape 14"/>
          <p:cNvSpPr/>
          <p:nvPr/>
        </p:nvSpPr>
        <p:spPr>
          <a:xfrm>
            <a:off x="3154680" y="1691640"/>
            <a:ext cx="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5340096" y="1691640"/>
            <a:ext cx="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7516368" y="1691640"/>
            <a:ext cx="0" cy="22860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  <a:tailEnd type="open"/>
          </a:ln>
        </p:spPr>
      </p:sp>
      <p:sp>
        <p:nvSpPr>
          <p:cNvPr id="19" name="Shape 17"/>
          <p:cNvSpPr/>
          <p:nvPr/>
        </p:nvSpPr>
        <p:spPr>
          <a:xfrm>
            <a:off x="182880" y="1920240"/>
            <a:ext cx="87782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92024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LAYER — Dispatch &amp; Optimization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194560"/>
            <a:ext cx="1600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2860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65960" y="2194560"/>
            <a:ext cx="1600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703320" y="2194560"/>
            <a:ext cx="1600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0332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40680" y="2194560"/>
            <a:ext cx="1600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4068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2194560"/>
            <a:ext cx="16002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78040" y="2194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8408" y="288036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open"/>
          </a:ln>
        </p:spPr>
      </p:sp>
      <p:sp>
        <p:nvSpPr>
          <p:cNvPr id="32" name="Shape 30"/>
          <p:cNvSpPr/>
          <p:nvPr/>
        </p:nvSpPr>
        <p:spPr>
          <a:xfrm>
            <a:off x="2715768" y="288036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open"/>
          </a:ln>
        </p:spPr>
      </p:sp>
      <p:sp>
        <p:nvSpPr>
          <p:cNvPr id="33" name="Shape 31"/>
          <p:cNvSpPr/>
          <p:nvPr/>
        </p:nvSpPr>
        <p:spPr>
          <a:xfrm>
            <a:off x="4453128" y="288036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6190488" y="288036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open"/>
          </a:ln>
        </p:spPr>
      </p:sp>
      <p:sp>
        <p:nvSpPr>
          <p:cNvPr id="35" name="Shape 33"/>
          <p:cNvSpPr/>
          <p:nvPr/>
        </p:nvSpPr>
        <p:spPr>
          <a:xfrm>
            <a:off x="7927848" y="2880360"/>
            <a:ext cx="0" cy="2286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open"/>
          </a:ln>
        </p:spPr>
      </p:sp>
      <p:sp>
        <p:nvSpPr>
          <p:cNvPr id="36" name="Shape 34"/>
          <p:cNvSpPr/>
          <p:nvPr/>
        </p:nvSpPr>
        <p:spPr>
          <a:xfrm>
            <a:off x="182880" y="3108960"/>
            <a:ext cx="877824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2880" y="3108960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SERVICES LAYER — Storage, Maps, Payments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383280"/>
            <a:ext cx="1600200" cy="685800"/>
          </a:xfrm>
          <a:prstGeom prst="rect">
            <a:avLst/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383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(PostgreSQL)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65960" y="3383280"/>
            <a:ext cx="1600200" cy="685800"/>
          </a:xfrm>
          <a:prstGeom prst="rect">
            <a:avLst/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65960" y="3383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(OSM / Custom)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03320" y="3383280"/>
            <a:ext cx="1600200" cy="685800"/>
          </a:xfrm>
          <a:prstGeom prst="rect">
            <a:avLst/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383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(Credit Ledger)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40680" y="3383280"/>
            <a:ext cx="1600200" cy="685800"/>
          </a:xfrm>
          <a:prstGeom prst="rect">
            <a:avLst/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0680" y="3383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(WebSocket)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78040" y="3383280"/>
            <a:ext cx="1600200" cy="685800"/>
          </a:xfrm>
          <a:prstGeom prst="rect">
            <a:avLst/>
          </a:prstGeom>
          <a:solidFill>
            <a:srgbClr val="E8F5F4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78040" y="338328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DB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572000"/>
            <a:ext cx="85953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Python/Node.js  ·  PostgreSQL  ·  Redis  ·  WebSockets  ·  OpenStreetMap  ·  Dijkstra A*  ·  FastAPI  ·  React PWA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 WORKFLOW — End-to-End Lifecycle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011680" y="1508760"/>
            <a:ext cx="347472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  <p:sp>
        <p:nvSpPr>
          <p:cNvPr id="5" name="Shape 3"/>
          <p:cNvSpPr/>
          <p:nvPr/>
        </p:nvSpPr>
        <p:spPr>
          <a:xfrm>
            <a:off x="822960" y="86868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527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87452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food, Drop Zone,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urgency level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06240" y="1508760"/>
            <a:ext cx="347472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  <p:sp>
        <p:nvSpPr>
          <p:cNvPr id="11" name="Shape 9"/>
          <p:cNvSpPr/>
          <p:nvPr/>
        </p:nvSpPr>
        <p:spPr>
          <a:xfrm>
            <a:off x="3017520" y="86868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23160" y="150876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527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23160" y="187452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optimal runner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score + distance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0" y="1508760"/>
            <a:ext cx="347472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  <p:sp>
        <p:nvSpPr>
          <p:cNvPr id="17" name="Shape 15"/>
          <p:cNvSpPr/>
          <p:nvPr/>
        </p:nvSpPr>
        <p:spPr>
          <a:xfrm>
            <a:off x="5212080" y="86868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50876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17720" y="1527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Check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187452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 orders 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building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86868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868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150876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12280" y="152704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Notified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12280" y="187452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route map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corridor path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011680" y="3520440"/>
            <a:ext cx="347472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  <p:sp>
        <p:nvSpPr>
          <p:cNvPr id="28" name="Shape 26"/>
          <p:cNvSpPr/>
          <p:nvPr/>
        </p:nvSpPr>
        <p:spPr>
          <a:xfrm>
            <a:off x="822960" y="288036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28600" y="352044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860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at Kitchen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28600" y="38862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marks order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ready; runner collects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06240" y="3520440"/>
            <a:ext cx="347472" cy="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  <p:sp>
        <p:nvSpPr>
          <p:cNvPr id="34" name="Shape 32"/>
          <p:cNvSpPr/>
          <p:nvPr/>
        </p:nvSpPr>
        <p:spPr>
          <a:xfrm>
            <a:off x="3017520" y="288036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423160" y="352044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42316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Delivery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423160" y="38862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scans QR;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auto-debits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12080" y="2880360"/>
            <a:ext cx="594360" cy="59436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12080" y="2880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17720" y="3520440"/>
            <a:ext cx="1783080" cy="1188720"/>
          </a:xfrm>
          <a:prstGeom prst="rect">
            <a:avLst/>
          </a:prstGeom>
          <a:solidFill>
            <a:srgbClr val="163455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617720" y="353872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&amp; Close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17720" y="3886200"/>
            <a:ext cx="17830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parties rate;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updated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92240" y="1508760"/>
            <a:ext cx="0" cy="502920"/>
          </a:xfrm>
          <a:prstGeom prst="line">
            <a:avLst/>
          </a:prstGeom>
          <a:noFill/>
          <a:ln w="25400">
            <a:solidFill>
              <a:srgbClr val="F2B705"/>
            </a:solidFill>
            <a:prstDash val="solid"/>
            <a:tailEnd type="open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ALGORITHMS &amp;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0624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Scoring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26187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(distance_weight × dist) + (urgency_weight × urgency) + (rating_weight × runner_rating)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62763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 runner gets assigned first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19933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every 30s to adapt to runner availability changes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38328" y="23591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case: if no runners, order queued with timeout alert to admin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206240" cy="384048"/>
          </a:xfrm>
          <a:prstGeom prst="rect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3168" y="126187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new order, scan pending queue for orders to same building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73168" y="162763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runner's current path passes through kitchen: auto-add to batch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73168" y="19933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batch size: 3 orders (to avoid cold food SLA breach)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73168" y="23591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algorithm: sorted by building proximity, not FIFO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2926080"/>
            <a:ext cx="420624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9260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" y="33649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modeled as weighted graph: nodes=rooms, edges=corridors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" y="37307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Dijkstra's algorithm computes shortest indoor path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8328" y="409651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weights: distance + crowd factor (peak vs off-peak)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8328" y="446227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ETA = sum of path edges × walking speed constant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06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92608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92608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Drop Zone Verify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73168" y="336499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Drop Zone has a unique QR code (static, tamper-evident)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373075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Runner scans QR on delivery; GPS cross-checks within 15m radius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409651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mismatch: delivery flagged, admin notified, payment held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4462272"/>
            <a:ext cx="39867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student OTP confirmation if QR fails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8229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4592" y="8229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914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4592" y="13898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Order Queue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7739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dashboard shows live queue; vendor marks 'ready' to trigger runner dispatch.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86584" y="8229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86584" y="8229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86584" y="914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🗺️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86584" y="13898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Route Navigation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496312" y="17739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 with corridor weights; Dijkstra calculates fastest path for runners.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8229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8229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914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🔁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8576" y="13898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Batching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18304" y="17739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orders to same building, max 3 per runner. Reduces trips by up to 60%.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30568" y="8229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30568" y="8229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9144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📲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30568" y="13898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Messaging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0296" y="17739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runner↔student chat. No phone numbers shared. Closes on delivery.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4592" y="28803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64592" y="28803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64592" y="34472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E-Wallet Credits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38313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Pre-loaded campus credits. Instant deduction on QR scan. No cash handling.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86584" y="28803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386584" y="28803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86584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⭐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2386584" y="34472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Rating System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496312" y="38313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quality + delivery speed. Low-rated runners auto-flagged for retraining.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08576" y="28803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08576" y="28803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08576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🔐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4608576" y="34472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Drop Zone Verify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18304" y="38313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QR cross-check prevents fake deliveries. Payment held until verified.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30568" y="2880360"/>
            <a:ext cx="2057400" cy="1920240"/>
          </a:xfrm>
          <a:prstGeom prst="rect">
            <a:avLst/>
          </a:prstGeom>
          <a:solidFill>
            <a:srgbClr val="0F2A42"/>
          </a:solidFill>
          <a:ln w="12700">
            <a:solidFill>
              <a:srgbClr val="1E40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30568" y="2880360"/>
            <a:ext cx="20574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0568" y="29718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6830568" y="3447288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40296" y="3831336"/>
            <a:ext cx="184708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heatmap, runner positions, order backlog, SLA breach alerts.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&amp; IMPLEMENTATION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(Zero Cost)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80160" y="1307592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23444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· Node.js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402336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70992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80160" y="1783080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170992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(cache)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185416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85416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80160" y="2258568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185416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PWA · Tailwind CSS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660904"/>
            <a:ext cx="402336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60904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280160" y="2734056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71600" y="2660904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· OSRM routing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36392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136392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280160" y="3209544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313639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· Socket.IO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611880"/>
            <a:ext cx="4023360" cy="402336"/>
          </a:xfrm>
          <a:prstGeom prst="rect">
            <a:avLst/>
          </a:prstGeom>
          <a:solidFill>
            <a:srgbClr val="EEF4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11880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280160" y="3685032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611880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bcrypt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087368"/>
            <a:ext cx="40233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087368"/>
            <a:ext cx="1005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280160" y="4160520"/>
            <a:ext cx="0" cy="256032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4087368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Nginx (campus server)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1234440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234440"/>
            <a:ext cx="777240" cy="8412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234440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77840" y="1307592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Dispatch + Queue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161848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model, runner assignment, basic queue API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09160" y="2167128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167128"/>
            <a:ext cx="777240" cy="8412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167128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77840" y="224028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+ Batching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77840" y="255117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graph, Dijkstra integration, batch logic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099816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099816"/>
            <a:ext cx="777240" cy="8412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099816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77840" y="3172968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QR Verify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577840" y="34838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system, QR generation, delivery confirm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4032504"/>
            <a:ext cx="411480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032504"/>
            <a:ext cx="777240" cy="841248"/>
          </a:xfrm>
          <a:prstGeom prst="rect">
            <a:avLst/>
          </a:prstGeom>
          <a:solidFill>
            <a:srgbClr val="0B1E3D"/>
          </a:solidFill>
          <a:ln w="12700">
            <a:solidFill>
              <a:srgbClr val="0B1E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032504"/>
            <a:ext cx="7772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577840" y="4105656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+ Dashboard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577840" y="441655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feeds, admin panel, rating system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77640" cy="3474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23444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map depends on manual campus graph input — no auto-floor-plan parsing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7282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GPS of runners (simulated with step-based location updates)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222199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is greedy, not globally optimal (NP-hard TSP not solved)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7157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ML-based demand forecasting (rule-based surge only)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20954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multi-campus support in current design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37033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prototype only — production hardening not completed in hackathon scope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92040" y="777240"/>
            <a:ext cx="397764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7772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23444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for runner demand prediction and pre-positioning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92040" y="17282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beacon integration for precise indoor positioning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2221992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marketplace: canteen, stationery, lab supplies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92040" y="2715768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Carbon-footprint dashboard (track plastic eliminated per month)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92040" y="3209544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University-to-university white-label SaaS deployment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92040" y="37033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Gamification: runner leaderboards, student loyalty points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777240"/>
            <a:ext cx="0" cy="32918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274320"/>
            <a:ext cx="8796528" cy="5029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WHY THIS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65960" cy="1463040"/>
          </a:xfrm>
          <a:prstGeom prst="rect">
            <a:avLst/>
          </a:prstGeom>
          <a:solidFill>
            <a:srgbClr val="0F2A42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1965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4416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60%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efficiency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reduces runner trips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1965960" cy="1463040"/>
          </a:xfrm>
          <a:prstGeom prst="rect">
            <a:avLst/>
          </a:prstGeom>
          <a:solidFill>
            <a:srgbClr val="0F2A42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80160"/>
            <a:ext cx="1965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4416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1920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delivery riders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5176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security risk, no plastic waste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65960" cy="1463040"/>
          </a:xfrm>
          <a:prstGeom prst="rect">
            <a:avLst/>
          </a:prstGeom>
          <a:solidFill>
            <a:srgbClr val="0F2A42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280160"/>
            <a:ext cx="1965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34416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15min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 (est.)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route + pre-batching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280160"/>
            <a:ext cx="1965960" cy="1463040"/>
          </a:xfrm>
          <a:prstGeom prst="rect">
            <a:avLst/>
          </a:prstGeom>
          <a:solidFill>
            <a:srgbClr val="0F2A42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0" y="1280160"/>
            <a:ext cx="1965960" cy="640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344168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1920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Traceable payments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2267712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wallet, no cash disputes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297180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"We're not building a food app — we're building the dispatch brain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makes campus food delivery fast, traceable, and waste-free."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93192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campus-delivery-engine   |   Submission: All docs + source in /docs and /src   |   UDBHAVA X '26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Last-Mile Meal — Campus Logistics Engine</dc:title>
  <dc:subject>PptxGenJS Presentation</dc:subject>
  <dc:creator>UDBHAVA X '26 Team</dc:creator>
  <cp:lastModifiedBy>UDBHAVA X '26 Team</cp:lastModifiedBy>
  <cp:revision>1</cp:revision>
  <dcterms:created xsi:type="dcterms:W3CDTF">2026-04-06T05:39:04Z</dcterms:created>
  <dcterms:modified xsi:type="dcterms:W3CDTF">2026-04-06T05:39:04Z</dcterms:modified>
</cp:coreProperties>
</file>